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5" r:id="rId9"/>
    <p:sldId id="266" r:id="rId10"/>
    <p:sldId id="267" r:id="rId11"/>
    <p:sldId id="268" r:id="rId12"/>
    <p:sldId id="264" r:id="rId13"/>
    <p:sldId id="269" r:id="rId14"/>
    <p:sldId id="26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2862991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1046159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1573883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292761F0-58FE-4A6B-B2DF-448EB8F36078}" type="datetimeFigureOut">
              <a:rPr lang="es-ES" smtClean="0"/>
              <a:t>16/03/2026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27775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92761F0-58FE-4A6B-B2DF-448EB8F36078}" type="datetimeFigureOut">
              <a:rPr lang="es-ES" smtClean="0"/>
              <a:t>16/03/2026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2361026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92761F0-58FE-4A6B-B2DF-448EB8F36078}" type="datetimeFigureOut">
              <a:rPr lang="es-ES" smtClean="0"/>
              <a:t>16/03/2026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2799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2761F0-58FE-4A6B-B2DF-448EB8F36078}" type="datetimeFigureOut">
              <a:rPr lang="es-ES" smtClean="0"/>
              <a:t>16/03/2026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332935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92761F0-58FE-4A6B-B2DF-448EB8F36078}" type="datetimeFigureOut">
              <a:rPr lang="es-ES" smtClean="0"/>
              <a:t>16/03/2026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2569112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92761F0-58FE-4A6B-B2DF-448EB8F36078}" type="datetimeFigureOut">
              <a:rPr lang="es-ES" smtClean="0"/>
              <a:t>16/03/2026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4243250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3258244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69375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31871022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0011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495453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3746304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292761F0-58FE-4A6B-B2DF-448EB8F36078}" type="datetimeFigureOut">
              <a:rPr lang="es-ES" smtClean="0"/>
              <a:t>16/03/2026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5EF76E14-2842-4880-8F4C-34840E40FB32}" type="slidenum">
              <a:rPr lang="es-ES" smtClean="0"/>
              <a:t>‹Nº›</a:t>
            </a:fld>
            <a:endParaRPr lang="es-ES"/>
          </a:p>
        </p:txBody>
      </p:sp>
    </p:spTree>
    <p:extLst>
      <p:ext uri="{BB962C8B-B14F-4D97-AF65-F5344CB8AC3E}">
        <p14:creationId xmlns:p14="http://schemas.microsoft.com/office/powerpoint/2010/main" val="429317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92761F0-58FE-4A6B-B2DF-448EB8F36078}" type="datetimeFigureOut">
              <a:rPr lang="es-ES" smtClean="0"/>
              <a:t>16/03/2026</a:t>
            </a:fld>
            <a:endParaRPr lang="es-E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F76E14-2842-4880-8F4C-34840E40FB32}" type="slidenum">
              <a:rPr lang="es-ES" smtClean="0"/>
              <a:t>‹Nº›</a:t>
            </a:fld>
            <a:endParaRPr lang="es-ES"/>
          </a:p>
        </p:txBody>
      </p:sp>
    </p:spTree>
    <p:extLst>
      <p:ext uri="{BB962C8B-B14F-4D97-AF65-F5344CB8AC3E}">
        <p14:creationId xmlns:p14="http://schemas.microsoft.com/office/powerpoint/2010/main" val="3752181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4.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pccomponentes.com/?_gl=1*1nwar2l*_up*MQ..&amp;gclid=EAIaIQobChMIiOTwrqCGkwMVQU1BAh19uTUOEAAYASAAEgKkufD_BwE" TargetMode="External"/><Relationship Id="rId7" Type="http://schemas.openxmlformats.org/officeDocument/2006/relationships/hyperlink" Target="https://www.coolmod.com/blog/categorias/componentes/tipos-de-tarjetas-graficas-guia-facil-para-elegir-la-adecuada/?srsltid=AfmBOorEPhZ5l-SOV7gtcclZ12W1-6vtNk5wL7Ewdalrx7BIrggdVENm" TargetMode="External"/><Relationship Id="rId2" Type="http://schemas.openxmlformats.org/officeDocument/2006/relationships/hyperlink" Target="https://blog.jetcomputer.net/tarjeta-grafica-que-es-cual-es-su-funcion-y-cuantos-tipos-hay/?srsltid=AfmBOormospww-haYQcDJkW1qMMxHYlK8b6FNNlAjzKcTXOOh0i58-Ec" TargetMode="External"/><Relationship Id="rId1" Type="http://schemas.openxmlformats.org/officeDocument/2006/relationships/slideLayout" Target="../slideLayouts/slideLayout2.xml"/><Relationship Id="rId6" Type="http://schemas.openxmlformats.org/officeDocument/2006/relationships/hyperlink" Target="https://www.q2bstudio.com/nuestro-blog/924301/nvidia-lidera-mercado-tarjetas-graficas-pc-mejor-tecnologia-rendimiento-usuarios-exigentes" TargetMode="External"/><Relationship Id="rId5" Type="http://schemas.openxmlformats.org/officeDocument/2006/relationships/hyperlink" Target="https://www.pccomponentes.com/tarjetas-graficas?srsltid=AfmBOoq2odQUftRhx965LrDfU1uch7HiY6d7yrEnAB5TLsBi9ULzayhj" TargetMode="External"/><Relationship Id="rId4" Type="http://schemas.openxmlformats.org/officeDocument/2006/relationships/hyperlink" Target="https://hardzone.es/noticias/tarjetas-graficas/3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C2A005-0FBE-88AB-F8A0-0DED89EA647E}"/>
              </a:ext>
            </a:extLst>
          </p:cNvPr>
          <p:cNvSpPr>
            <a:spLocks noGrp="1"/>
          </p:cNvSpPr>
          <p:nvPr>
            <p:ph type="ctrTitle"/>
          </p:nvPr>
        </p:nvSpPr>
        <p:spPr/>
        <p:txBody>
          <a:bodyPr/>
          <a:lstStyle/>
          <a:p>
            <a:r>
              <a:rPr lang="es-ES" dirty="0"/>
              <a:t>Tarjetas Gráficas</a:t>
            </a:r>
          </a:p>
        </p:txBody>
      </p:sp>
      <p:sp>
        <p:nvSpPr>
          <p:cNvPr id="3" name="Subtítulo 2">
            <a:extLst>
              <a:ext uri="{FF2B5EF4-FFF2-40B4-BE49-F238E27FC236}">
                <a16:creationId xmlns:a16="http://schemas.microsoft.com/office/drawing/2014/main" id="{3EA724F4-546B-0BCF-8E2C-B9B8B59C11EC}"/>
              </a:ext>
            </a:extLst>
          </p:cNvPr>
          <p:cNvSpPr>
            <a:spLocks noGrp="1"/>
          </p:cNvSpPr>
          <p:nvPr>
            <p:ph type="subTitle" idx="1"/>
          </p:nvPr>
        </p:nvSpPr>
        <p:spPr/>
        <p:txBody>
          <a:bodyPr/>
          <a:lstStyle/>
          <a:p>
            <a:r>
              <a:rPr lang="es-ES" dirty="0"/>
              <a:t>Autor: Richard Jason Huaracha Meléndez</a:t>
            </a:r>
            <a:br>
              <a:rPr lang="es-ES" dirty="0"/>
            </a:br>
            <a:r>
              <a:rPr lang="es-ES" dirty="0"/>
              <a:t>Curso: Fundamentos de Hardware</a:t>
            </a:r>
            <a:br>
              <a:rPr lang="es-ES" dirty="0"/>
            </a:br>
            <a:r>
              <a:rPr lang="es-ES" dirty="0"/>
              <a:t>Fecha: 09-03-2026</a:t>
            </a:r>
          </a:p>
        </p:txBody>
      </p:sp>
    </p:spTree>
    <p:extLst>
      <p:ext uri="{BB962C8B-B14F-4D97-AF65-F5344CB8AC3E}">
        <p14:creationId xmlns:p14="http://schemas.microsoft.com/office/powerpoint/2010/main" val="42841824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6FA133-E6DA-13B0-416D-9069D02EB54D}"/>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B008454B-95F7-8892-D429-288228FE0553}"/>
              </a:ext>
            </a:extLst>
          </p:cNvPr>
          <p:cNvSpPr>
            <a:spLocks noGrp="1"/>
          </p:cNvSpPr>
          <p:nvPr>
            <p:ph idx="1"/>
          </p:nvPr>
        </p:nvSpPr>
        <p:spPr>
          <a:xfrm>
            <a:off x="677334" y="1798280"/>
            <a:ext cx="8596668" cy="3880773"/>
          </a:xfrm>
        </p:spPr>
        <p:txBody>
          <a:bodyPr>
            <a:normAutofit fontScale="85000" lnSpcReduction="20000"/>
          </a:bodyPr>
          <a:lstStyle/>
          <a:p>
            <a:r>
              <a:rPr lang="es-ES" dirty="0">
                <a:hlinkClick r:id="rId2" action="ppaction://hlinksldjump"/>
              </a:rPr>
              <a:t>Introducción a la tarjeta gráfica.</a:t>
            </a:r>
            <a:endParaRPr lang="es-ES" dirty="0"/>
          </a:p>
          <a:p>
            <a:r>
              <a:rPr lang="es-ES" dirty="0">
                <a:hlinkClick r:id="rId3" action="ppaction://hlinksldjump"/>
              </a:rPr>
              <a:t>Funcionamiento y Componentes Principales.</a:t>
            </a:r>
            <a:endParaRPr lang="es-ES" dirty="0"/>
          </a:p>
          <a:p>
            <a:r>
              <a:rPr lang="es-ES" dirty="0">
                <a:hlinkClick r:id="rId4" action="ppaction://hlinksldjump"/>
              </a:rPr>
              <a:t>Interfaz y Memoria Gráfica.</a:t>
            </a:r>
            <a:endParaRPr lang="es-ES" dirty="0"/>
          </a:p>
          <a:p>
            <a:r>
              <a:rPr lang="es-ES" dirty="0">
                <a:hlinkClick r:id="rId5" action="ppaction://hlinksldjump"/>
              </a:rPr>
              <a:t>Estudio de mercado 2026: El escenario actual.</a:t>
            </a:r>
            <a:endParaRPr lang="es-ES" dirty="0"/>
          </a:p>
          <a:p>
            <a:r>
              <a:rPr lang="pt-BR" dirty="0">
                <a:hlinkClick r:id="rId6" action="ppaction://hlinksldjump"/>
              </a:rPr>
              <a:t>Comparativas Internas (NVIDIA).</a:t>
            </a:r>
            <a:endParaRPr lang="es-ES" dirty="0"/>
          </a:p>
          <a:p>
            <a:r>
              <a:rPr lang="pt-BR" dirty="0">
                <a:hlinkClick r:id="rId7" action="ppaction://hlinksldjump"/>
              </a:rPr>
              <a:t>Comparativas Internas (AMD).</a:t>
            </a:r>
            <a:endParaRPr lang="pt-BR" dirty="0"/>
          </a:p>
          <a:p>
            <a:r>
              <a:rPr lang="es-ES" dirty="0">
                <a:hlinkClick r:id="rId8" action="ppaction://hlinksldjump"/>
              </a:rPr>
              <a:t>Comparativas (</a:t>
            </a:r>
            <a:r>
              <a:rPr lang="pt-BR" dirty="0">
                <a:hlinkClick r:id="rId8" action="ppaction://hlinksldjump"/>
              </a:rPr>
              <a:t>Intel).</a:t>
            </a:r>
            <a:endParaRPr lang="es-ES" dirty="0"/>
          </a:p>
          <a:p>
            <a:r>
              <a:rPr lang="es-ES" dirty="0">
                <a:hlinkClick r:id="rId9" action="ppaction://hlinksldjump"/>
              </a:rPr>
              <a:t>Comparativas por Gama (Gama Baja). </a:t>
            </a:r>
            <a:endParaRPr lang="es-ES" dirty="0"/>
          </a:p>
          <a:p>
            <a:r>
              <a:rPr lang="es-ES" dirty="0">
                <a:hlinkClick r:id="rId10" action="ppaction://hlinksldjump"/>
              </a:rPr>
              <a:t>Comparativas por Gama (Gama Media).</a:t>
            </a:r>
            <a:endParaRPr lang="es-ES" dirty="0"/>
          </a:p>
          <a:p>
            <a:r>
              <a:rPr lang="es-ES" dirty="0">
                <a:hlinkClick r:id="rId11" action="ppaction://hlinksldjump"/>
              </a:rPr>
              <a:t>Comparativas por Gama (Gama Alta).</a:t>
            </a:r>
            <a:endParaRPr lang="es-ES" dirty="0"/>
          </a:p>
          <a:p>
            <a:r>
              <a:rPr lang="es-ES" dirty="0">
                <a:hlinkClick r:id="rId12" action="ppaction://hlinksldjump"/>
              </a:rPr>
              <a:t>Tendencias y Novedades del Sector.</a:t>
            </a:r>
            <a:endParaRPr lang="es-ES" dirty="0"/>
          </a:p>
          <a:p>
            <a:r>
              <a:rPr lang="es-ES" dirty="0">
                <a:hlinkClick r:id="rId13" action="ppaction://hlinksldjump"/>
              </a:rPr>
              <a:t>Bibliografía y Webgrafía.</a:t>
            </a:r>
            <a:endParaRPr lang="es-ES" dirty="0"/>
          </a:p>
          <a:p>
            <a:endParaRPr lang="es-ES" dirty="0"/>
          </a:p>
        </p:txBody>
      </p:sp>
    </p:spTree>
    <p:extLst>
      <p:ext uri="{BB962C8B-B14F-4D97-AF65-F5344CB8AC3E}">
        <p14:creationId xmlns:p14="http://schemas.microsoft.com/office/powerpoint/2010/main" val="151753877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Tarjeta Gráfica ASUS PRIME GeForce RTX 5060 Ti OC Edition 8GB GDDR7 Reflex  2 RTX AI DLSS4 | PcComponentes.com">
            <a:extLst>
              <a:ext uri="{FF2B5EF4-FFF2-40B4-BE49-F238E27FC236}">
                <a16:creationId xmlns:a16="http://schemas.microsoft.com/office/drawing/2014/main" id="{9F7CF275-644E-7F00-8535-4E792BAD04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0698" y="3200940"/>
            <a:ext cx="3453322" cy="345332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3A4CA61-19A1-6E0F-10DD-A4D17F6EE040}"/>
              </a:ext>
            </a:extLst>
          </p:cNvPr>
          <p:cNvSpPr>
            <a:spLocks noGrp="1"/>
          </p:cNvSpPr>
          <p:nvPr>
            <p:ph type="title"/>
          </p:nvPr>
        </p:nvSpPr>
        <p:spPr/>
        <p:txBody>
          <a:bodyPr/>
          <a:lstStyle/>
          <a:p>
            <a:r>
              <a:rPr lang="es-ES" dirty="0"/>
              <a:t>Introducción a la tarjeta gráfica.</a:t>
            </a:r>
            <a:br>
              <a:rPr lang="es-ES" dirty="0"/>
            </a:br>
            <a:endParaRPr lang="es-ES" dirty="0"/>
          </a:p>
        </p:txBody>
      </p:sp>
      <p:sp>
        <p:nvSpPr>
          <p:cNvPr id="3" name="Marcador de contenido 2">
            <a:extLst>
              <a:ext uri="{FF2B5EF4-FFF2-40B4-BE49-F238E27FC236}">
                <a16:creationId xmlns:a16="http://schemas.microsoft.com/office/drawing/2014/main" id="{6CDFFAD0-0F6C-1267-70BC-FE81FFA80A4B}"/>
              </a:ext>
            </a:extLst>
          </p:cNvPr>
          <p:cNvSpPr>
            <a:spLocks noGrp="1"/>
          </p:cNvSpPr>
          <p:nvPr>
            <p:ph idx="1"/>
          </p:nvPr>
        </p:nvSpPr>
        <p:spPr>
          <a:xfrm>
            <a:off x="677334" y="1601296"/>
            <a:ext cx="8596668" cy="3880773"/>
          </a:xfrm>
        </p:spPr>
        <p:txBody>
          <a:bodyPr>
            <a:normAutofit/>
          </a:bodyPr>
          <a:lstStyle/>
          <a:p>
            <a:pPr algn="just"/>
            <a:r>
              <a:rPr lang="es-ES" sz="1600" dirty="0"/>
              <a:t>La tarjeta gráfica, o GPU (Unidad de Procesamiento Gráfico), es el componente de hardware especializado en procesar datos del CPU para convertirlos en información visual (imágenes, videos, 3D) en el monitor. Es esencial para juegos, edición de video y renderizado, aliviando la carga de trabajo del procesador central.</a:t>
            </a:r>
          </a:p>
          <a:p>
            <a:pPr algn="just"/>
            <a:r>
              <a:rPr lang="es-ES" sz="1600" u="sng" dirty="0"/>
              <a:t>Función básica: </a:t>
            </a:r>
            <a:r>
              <a:rPr lang="es-ES" sz="1600" dirty="0"/>
              <a:t>Transforma los datos binarios del procesador central en señales de vídeo comprensibles para el monitor.</a:t>
            </a:r>
          </a:p>
          <a:p>
            <a:r>
              <a:rPr lang="es-ES" sz="1600" u="sng" dirty="0"/>
              <a:t>Importancia actual: </a:t>
            </a:r>
            <a:r>
              <a:rPr lang="es-ES" sz="1600" dirty="0"/>
              <a:t>Ya no es solo para videojuegos; el </a:t>
            </a:r>
            <a:br>
              <a:rPr lang="es-ES" sz="1600" dirty="0"/>
            </a:br>
            <a:r>
              <a:rPr lang="es-ES" sz="1600" dirty="0"/>
              <a:t>propio sistema operativo requiere gran potencia gráfica </a:t>
            </a:r>
            <a:br>
              <a:rPr lang="es-ES" sz="1600" dirty="0"/>
            </a:br>
            <a:r>
              <a:rPr lang="es-ES" sz="1600" dirty="0"/>
              <a:t>para mover su interfaz.</a:t>
            </a:r>
          </a:p>
          <a:p>
            <a:r>
              <a:rPr lang="es-ES" sz="1600" u="sng" dirty="0"/>
              <a:t>Independencia: </a:t>
            </a:r>
            <a:r>
              <a:rPr lang="es-ES" sz="1600" dirty="0"/>
              <a:t>Libera a la CPU asumiendo la inmensa </a:t>
            </a:r>
            <a:br>
              <a:rPr lang="es-ES" sz="1600" dirty="0"/>
            </a:br>
            <a:r>
              <a:rPr lang="es-ES" sz="1600" dirty="0"/>
              <a:t>carga de realizar complejos cálculos geométricos y de </a:t>
            </a:r>
            <a:br>
              <a:rPr lang="es-ES" sz="1600" dirty="0"/>
            </a:br>
            <a:r>
              <a:rPr lang="es-ES" sz="1600" dirty="0"/>
              <a:t>iluminación.</a:t>
            </a:r>
            <a:endParaRPr lang="es-ES" sz="1600" u="sng" dirty="0"/>
          </a:p>
        </p:txBody>
      </p:sp>
    </p:spTree>
    <p:extLst>
      <p:ext uri="{BB962C8B-B14F-4D97-AF65-F5344CB8AC3E}">
        <p14:creationId xmlns:p14="http://schemas.microsoft.com/office/powerpoint/2010/main" val="620803719"/>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7B0B6A-011C-87E3-39A8-288B84EC0AA4}"/>
              </a:ext>
            </a:extLst>
          </p:cNvPr>
          <p:cNvSpPr>
            <a:spLocks noGrp="1"/>
          </p:cNvSpPr>
          <p:nvPr>
            <p:ph type="title"/>
          </p:nvPr>
        </p:nvSpPr>
        <p:spPr/>
        <p:txBody>
          <a:bodyPr>
            <a:normAutofit fontScale="90000"/>
          </a:bodyPr>
          <a:lstStyle/>
          <a:p>
            <a:r>
              <a:rPr lang="es-ES" dirty="0"/>
              <a:t>Funcionamiento y Componentes Principales.</a:t>
            </a:r>
            <a:br>
              <a:rPr lang="es-ES" dirty="0"/>
            </a:br>
            <a:endParaRPr lang="es-ES" dirty="0"/>
          </a:p>
        </p:txBody>
      </p:sp>
      <p:sp>
        <p:nvSpPr>
          <p:cNvPr id="3" name="Marcador de contenido 2">
            <a:extLst>
              <a:ext uri="{FF2B5EF4-FFF2-40B4-BE49-F238E27FC236}">
                <a16:creationId xmlns:a16="http://schemas.microsoft.com/office/drawing/2014/main" id="{505A1B02-D36C-78BB-06E6-F37770D0E8A5}"/>
              </a:ext>
            </a:extLst>
          </p:cNvPr>
          <p:cNvSpPr>
            <a:spLocks noGrp="1"/>
          </p:cNvSpPr>
          <p:nvPr>
            <p:ph idx="1"/>
          </p:nvPr>
        </p:nvSpPr>
        <p:spPr>
          <a:xfrm>
            <a:off x="677334" y="1488613"/>
            <a:ext cx="8596668" cy="3880773"/>
          </a:xfrm>
        </p:spPr>
        <p:txBody>
          <a:bodyPr>
            <a:normAutofit fontScale="92500" lnSpcReduction="10000"/>
          </a:bodyPr>
          <a:lstStyle/>
          <a:p>
            <a:pPr algn="just"/>
            <a:r>
              <a:rPr lang="es-ES" dirty="0"/>
              <a:t>La función fundamental de la tarjeta grafica es tomar datos procesados por CPU y transfórmalos en información visual comprensible. Cuando abres aplicación, juegas videojuegos, o simplemente mueves el cursor, CPU envía instrucciones a GPU sobre que mostrar. La GPU ejecuta millones de cálculos para determinar color exacto de cada pixel en pantalla, aplicar texturas, iluminación, sombras, efectos y genera imagen final que se transmite por el monitor.</a:t>
            </a:r>
          </a:p>
          <a:p>
            <a:pPr algn="just"/>
            <a:endParaRPr lang="es-ES" dirty="0"/>
          </a:p>
          <a:p>
            <a:pPr algn="just"/>
            <a:r>
              <a:rPr lang="es-ES" dirty="0"/>
              <a:t>Componentes Principales de una tarjeta gráfica:</a:t>
            </a:r>
          </a:p>
          <a:p>
            <a:pPr lvl="1" algn="just"/>
            <a:r>
              <a:rPr lang="es-ES" dirty="0"/>
              <a:t>La GPU (Procesador Gráfico):Es el auténtico "cerebro" de la tarjeta, diseñado específicamente para procesar texturas, vértices y píxeles en paralelo.</a:t>
            </a:r>
          </a:p>
          <a:p>
            <a:pPr lvl="1" algn="just"/>
            <a:r>
              <a:rPr lang="es-ES" dirty="0"/>
              <a:t>Frame Buffer: Es la porción de memoria que actúa como almacén temporal de los cuadros (imágenes) antes de enviarlos a la pantalla.</a:t>
            </a:r>
          </a:p>
          <a:p>
            <a:pPr lvl="1" algn="just"/>
            <a:r>
              <a:rPr lang="es-ES" dirty="0"/>
              <a:t>Refrigeración vital: Los cálculos masivos generan muchísimo calor, haciendo indispensables los disipadores, ventiladores y cámaras de vapor.</a:t>
            </a:r>
          </a:p>
        </p:txBody>
      </p:sp>
    </p:spTree>
    <p:extLst>
      <p:ext uri="{BB962C8B-B14F-4D97-AF65-F5344CB8AC3E}">
        <p14:creationId xmlns:p14="http://schemas.microsoft.com/office/powerpoint/2010/main" val="2765374757"/>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arjetas Gráficas">
            <a:extLst>
              <a:ext uri="{FF2B5EF4-FFF2-40B4-BE49-F238E27FC236}">
                <a16:creationId xmlns:a16="http://schemas.microsoft.com/office/drawing/2014/main" id="{054BB18D-9565-9FFE-5047-B73F8604C3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46" y="4118097"/>
            <a:ext cx="4572000" cy="25812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VBESTLIFE Tarjeta Gráfica HD7670, Tarjeta Gráfica DDR5 de 4 GB de 128 bits  con Ventilador de Refrigeración, Tarjeta de Vídeo para Juegos de PC  2560x1600 con Interfaz DVI, VGA, HDMI (HD7670 :">
            <a:extLst>
              <a:ext uri="{FF2B5EF4-FFF2-40B4-BE49-F238E27FC236}">
                <a16:creationId xmlns:a16="http://schemas.microsoft.com/office/drawing/2014/main" id="{A006A7A6-7976-2DCE-5A85-BD815621E5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324" y="3944958"/>
            <a:ext cx="3287443" cy="275441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71152BF-9B80-DE37-11EC-68E07F5046C6}"/>
              </a:ext>
            </a:extLst>
          </p:cNvPr>
          <p:cNvSpPr>
            <a:spLocks noGrp="1"/>
          </p:cNvSpPr>
          <p:nvPr>
            <p:ph type="title"/>
          </p:nvPr>
        </p:nvSpPr>
        <p:spPr/>
        <p:txBody>
          <a:bodyPr/>
          <a:lstStyle/>
          <a:p>
            <a:r>
              <a:rPr lang="es-ES" dirty="0"/>
              <a:t>Interfaz y Memoria Gráfica.</a:t>
            </a:r>
            <a:br>
              <a:rPr lang="es-ES" dirty="0"/>
            </a:br>
            <a:endParaRPr lang="es-ES" dirty="0"/>
          </a:p>
        </p:txBody>
      </p:sp>
      <p:sp>
        <p:nvSpPr>
          <p:cNvPr id="3" name="Marcador de contenido 2">
            <a:extLst>
              <a:ext uri="{FF2B5EF4-FFF2-40B4-BE49-F238E27FC236}">
                <a16:creationId xmlns:a16="http://schemas.microsoft.com/office/drawing/2014/main" id="{E6B9268B-C627-33CB-5587-A4EBE1BC0969}"/>
              </a:ext>
            </a:extLst>
          </p:cNvPr>
          <p:cNvSpPr>
            <a:spLocks noGrp="1"/>
          </p:cNvSpPr>
          <p:nvPr>
            <p:ph idx="1"/>
          </p:nvPr>
        </p:nvSpPr>
        <p:spPr>
          <a:xfrm>
            <a:off x="677334" y="1930400"/>
            <a:ext cx="8596668" cy="3880773"/>
          </a:xfrm>
        </p:spPr>
        <p:txBody>
          <a:bodyPr/>
          <a:lstStyle/>
          <a:p>
            <a:r>
              <a:rPr lang="es-ES" dirty="0"/>
              <a:t>Bus de conexión: Utilizan la interfaz PCI Express (actualmente en versiones 4.0 o 5.0) para comunicarse a velocidades extremas con la placa base.</a:t>
            </a:r>
          </a:p>
          <a:p>
            <a:r>
              <a:rPr lang="es-ES" dirty="0"/>
              <a:t>Memoria de vídeo (VRAM): Memoria de altísima velocidad (GDDR6 o GDDR7) dedicada exclusivamente a almacenar elementos gráficos pesados.</a:t>
            </a:r>
          </a:p>
          <a:p>
            <a:r>
              <a:rPr lang="es-ES" dirty="0"/>
              <a:t>Puertos de salida: Incluyen conexiones digitales modernas como HDMI 2.1 y DisplayPort 2.1 para soportar altas resoluciones (4K/8K).</a:t>
            </a:r>
          </a:p>
        </p:txBody>
      </p:sp>
    </p:spTree>
    <p:extLst>
      <p:ext uri="{BB962C8B-B14F-4D97-AF65-F5344CB8AC3E}">
        <p14:creationId xmlns:p14="http://schemas.microsoft.com/office/powerpoint/2010/main" val="326993522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104C91-5E17-093F-66A2-8487667A1908}"/>
              </a:ext>
            </a:extLst>
          </p:cNvPr>
          <p:cNvSpPr>
            <a:spLocks noGrp="1"/>
          </p:cNvSpPr>
          <p:nvPr>
            <p:ph type="title"/>
          </p:nvPr>
        </p:nvSpPr>
        <p:spPr/>
        <p:txBody>
          <a:bodyPr/>
          <a:lstStyle/>
          <a:p>
            <a:r>
              <a:rPr lang="es-ES" dirty="0"/>
              <a:t>Estudio de Mercado 2026: El Escenario Actual</a:t>
            </a:r>
          </a:p>
        </p:txBody>
      </p:sp>
      <p:sp>
        <p:nvSpPr>
          <p:cNvPr id="3" name="Marcador de contenido 2">
            <a:extLst>
              <a:ext uri="{FF2B5EF4-FFF2-40B4-BE49-F238E27FC236}">
                <a16:creationId xmlns:a16="http://schemas.microsoft.com/office/drawing/2014/main" id="{E168EA28-1654-511A-E333-CEF291FB1F32}"/>
              </a:ext>
            </a:extLst>
          </p:cNvPr>
          <p:cNvSpPr>
            <a:spLocks noGrp="1"/>
          </p:cNvSpPr>
          <p:nvPr>
            <p:ph idx="1"/>
          </p:nvPr>
        </p:nvSpPr>
        <p:spPr>
          <a:xfrm>
            <a:off x="677334" y="1930400"/>
            <a:ext cx="8596668" cy="3880773"/>
          </a:xfrm>
        </p:spPr>
        <p:txBody>
          <a:bodyPr/>
          <a:lstStyle/>
          <a:p>
            <a:r>
              <a:rPr lang="es-ES" dirty="0"/>
              <a:t>Dominio de NVIDIA: Lidera el rendimiento extremo y la Inteligencia Artificial con su potentísima (y cara) serie RTX 50 (arquitectura Blackwell).</a:t>
            </a:r>
          </a:p>
          <a:p>
            <a:r>
              <a:rPr lang="es-ES" dirty="0"/>
              <a:t>La resistencia de AMD: La serie Radeon RX 9000 (RDNA 4) destaca por ofrecer mucha memoria VRAM y una gran relación calidad-precio.</a:t>
            </a:r>
          </a:p>
          <a:p>
            <a:r>
              <a:rPr lang="es-ES" dirty="0"/>
              <a:t>La gran sorpresa de Intel: Con su nueva arquitectura Arc Battlemage (serie B), Intel ha arrasado en el mercado económico con precios rompedores.</a:t>
            </a:r>
          </a:p>
        </p:txBody>
      </p:sp>
      <p:pic>
        <p:nvPicPr>
          <p:cNvPr id="5" name="Imagen 4">
            <a:extLst>
              <a:ext uri="{FF2B5EF4-FFF2-40B4-BE49-F238E27FC236}">
                <a16:creationId xmlns:a16="http://schemas.microsoft.com/office/drawing/2014/main" id="{9D10245C-8DD3-BF82-E644-7B040793FD2A}"/>
              </a:ext>
            </a:extLst>
          </p:cNvPr>
          <p:cNvPicPr>
            <a:picLocks noChangeAspect="1"/>
          </p:cNvPicPr>
          <p:nvPr/>
        </p:nvPicPr>
        <p:blipFill>
          <a:blip r:embed="rId2"/>
          <a:stretch>
            <a:fillRect/>
          </a:stretch>
        </p:blipFill>
        <p:spPr>
          <a:xfrm>
            <a:off x="2462158" y="4039698"/>
            <a:ext cx="5415556" cy="25250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7749785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420F96-9CA5-7FAF-3497-6E44615556AC}"/>
              </a:ext>
            </a:extLst>
          </p:cNvPr>
          <p:cNvSpPr>
            <a:spLocks noGrp="1"/>
          </p:cNvSpPr>
          <p:nvPr>
            <p:ph type="title"/>
          </p:nvPr>
        </p:nvSpPr>
        <p:spPr/>
        <p:txBody>
          <a:bodyPr/>
          <a:lstStyle/>
          <a:p>
            <a:r>
              <a:rPr lang="es-ES" dirty="0"/>
              <a:t>Comparativas Internas (NVIDIA)</a:t>
            </a:r>
          </a:p>
        </p:txBody>
      </p:sp>
      <p:sp>
        <p:nvSpPr>
          <p:cNvPr id="3" name="Marcador de contenido 2">
            <a:extLst>
              <a:ext uri="{FF2B5EF4-FFF2-40B4-BE49-F238E27FC236}">
                <a16:creationId xmlns:a16="http://schemas.microsoft.com/office/drawing/2014/main" id="{F2EB0A23-1868-57E2-07A4-1A12C0513C26}"/>
              </a:ext>
            </a:extLst>
          </p:cNvPr>
          <p:cNvSpPr>
            <a:spLocks noGrp="1"/>
          </p:cNvSpPr>
          <p:nvPr>
            <p:ph idx="1"/>
          </p:nvPr>
        </p:nvSpPr>
        <p:spPr>
          <a:xfrm>
            <a:off x="677334" y="1668883"/>
            <a:ext cx="8596668" cy="3880773"/>
          </a:xfrm>
        </p:spPr>
        <p:txBody>
          <a:bodyPr/>
          <a:lstStyle/>
          <a:p>
            <a:r>
              <a:rPr lang="es-ES" dirty="0"/>
              <a:t>Gama Baja/Media (RTX 5050 vs 5070): La 5050 ofrece acceso económico a la IA, mientras que la 5070 es el equilibrio perfecto para jugar a 1440p.</a:t>
            </a:r>
          </a:p>
          <a:p>
            <a:r>
              <a:rPr lang="es-ES" dirty="0"/>
              <a:t>Gama Alta (RTX 5090): Es un monstruo técnico con precios estratosféricos, orientada exclusivamente a entusiastas y desarrolladores.</a:t>
            </a:r>
          </a:p>
          <a:p>
            <a:r>
              <a:rPr lang="es-ES" dirty="0"/>
              <a:t>Conclusión: NVIDIA segmenta de forma muy agresiva; se paga un altísimo "impuesto premium" por la gama alta frente a la gama media.</a:t>
            </a:r>
          </a:p>
        </p:txBody>
      </p:sp>
      <p:pic>
        <p:nvPicPr>
          <p:cNvPr id="3074" name="Picture 2" descr="Tarjetas gráficas GeForce | NVIDIA">
            <a:extLst>
              <a:ext uri="{FF2B5EF4-FFF2-40B4-BE49-F238E27FC236}">
                <a16:creationId xmlns:a16="http://schemas.microsoft.com/office/drawing/2014/main" id="{F9F5CCCD-3C6B-012B-00EE-B8695C2CD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5239" y="3752046"/>
            <a:ext cx="4700857" cy="264354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82774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7678867-C98F-9217-DD28-906E78FDEE7B}"/>
              </a:ext>
            </a:extLst>
          </p:cNvPr>
          <p:cNvPicPr>
            <a:picLocks noChangeAspect="1"/>
          </p:cNvPicPr>
          <p:nvPr/>
        </p:nvPicPr>
        <p:blipFill>
          <a:blip r:embed="rId2"/>
          <a:stretch>
            <a:fillRect/>
          </a:stretch>
        </p:blipFill>
        <p:spPr>
          <a:xfrm>
            <a:off x="6096000" y="3585987"/>
            <a:ext cx="3037936" cy="3037936"/>
          </a:xfrm>
          <a:prstGeom prst="rect">
            <a:avLst/>
          </a:prstGeom>
        </p:spPr>
      </p:pic>
      <p:pic>
        <p:nvPicPr>
          <p:cNvPr id="4098" name="Picture 2" descr="Tarjetas gráficas AMD Radeon™ para creadores">
            <a:extLst>
              <a:ext uri="{FF2B5EF4-FFF2-40B4-BE49-F238E27FC236}">
                <a16:creationId xmlns:a16="http://schemas.microsoft.com/office/drawing/2014/main" id="{8373D4F1-FE46-B1CF-5DDA-771F6EC04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21" y="3686574"/>
            <a:ext cx="5041354" cy="283676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22AE068-0FAE-8169-EE78-0C0403A3EBB4}"/>
              </a:ext>
            </a:extLst>
          </p:cNvPr>
          <p:cNvSpPr>
            <a:spLocks noGrp="1"/>
          </p:cNvSpPr>
          <p:nvPr>
            <p:ph type="title"/>
          </p:nvPr>
        </p:nvSpPr>
        <p:spPr/>
        <p:txBody>
          <a:bodyPr/>
          <a:lstStyle/>
          <a:p>
            <a:r>
              <a:rPr lang="es-ES" dirty="0"/>
              <a:t>Comparativas Internas (AMD)</a:t>
            </a:r>
          </a:p>
        </p:txBody>
      </p:sp>
      <p:sp>
        <p:nvSpPr>
          <p:cNvPr id="3" name="Marcador de contenido 2">
            <a:extLst>
              <a:ext uri="{FF2B5EF4-FFF2-40B4-BE49-F238E27FC236}">
                <a16:creationId xmlns:a16="http://schemas.microsoft.com/office/drawing/2014/main" id="{AEFFDE93-34FA-1DB8-E246-D4714079D85E}"/>
              </a:ext>
            </a:extLst>
          </p:cNvPr>
          <p:cNvSpPr>
            <a:spLocks noGrp="1"/>
          </p:cNvSpPr>
          <p:nvPr>
            <p:ph idx="1"/>
          </p:nvPr>
        </p:nvSpPr>
        <p:spPr>
          <a:xfrm>
            <a:off x="677334" y="1582619"/>
            <a:ext cx="8596668" cy="3880773"/>
          </a:xfrm>
        </p:spPr>
        <p:txBody>
          <a:bodyPr/>
          <a:lstStyle/>
          <a:p>
            <a:r>
              <a:rPr lang="es-ES" dirty="0"/>
              <a:t>Gama Baja/Media (RX 9060 XT vs 9070): La 9060 XT reina en presupuestos ajustados; la 9070 domina la gama media con sus 16GB de VRAM.</a:t>
            </a:r>
          </a:p>
          <a:p>
            <a:r>
              <a:rPr lang="it-IT" dirty="0"/>
              <a:t>Gama Alta (RX 9070 XT):</a:t>
            </a:r>
            <a:r>
              <a:rPr lang="es-ES" dirty="0"/>
              <a:t> Compite ferozmente en rendimiento bruto por un precio razonable, pero no intenta alcanzar el tope de gama de NVIDIA.</a:t>
            </a:r>
          </a:p>
          <a:p>
            <a:r>
              <a:rPr lang="es-ES" dirty="0"/>
              <a:t>Conclusión: AMD ha abandonado la guerra del "ultra-rendimiento" para centrarse en ofrecer tarjetas muy equilibradas a precios terrenales.</a:t>
            </a:r>
          </a:p>
        </p:txBody>
      </p:sp>
    </p:spTree>
    <p:extLst>
      <p:ext uri="{BB962C8B-B14F-4D97-AF65-F5344CB8AC3E}">
        <p14:creationId xmlns:p14="http://schemas.microsoft.com/office/powerpoint/2010/main" val="408977211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Sparkle Intel Arc B580 Guardian 12GB GDDR6">
            <a:extLst>
              <a:ext uri="{FF2B5EF4-FFF2-40B4-BE49-F238E27FC236}">
                <a16:creationId xmlns:a16="http://schemas.microsoft.com/office/drawing/2014/main" id="{E8E76444-C082-E98B-3833-7A21741EE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9878" y="3193138"/>
            <a:ext cx="2686301" cy="346892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ntel anuncia el primer prototipo de su tarjeta gráfica">
            <a:extLst>
              <a:ext uri="{FF2B5EF4-FFF2-40B4-BE49-F238E27FC236}">
                <a16:creationId xmlns:a16="http://schemas.microsoft.com/office/drawing/2014/main" id="{6AAF113D-825F-BC5D-25FE-A3CC841F3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334" y="3929107"/>
            <a:ext cx="4746431" cy="248551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FA0412C-9104-1D92-75DB-0465AFFEABF4}"/>
              </a:ext>
            </a:extLst>
          </p:cNvPr>
          <p:cNvSpPr>
            <a:spLocks noGrp="1"/>
          </p:cNvSpPr>
          <p:nvPr>
            <p:ph type="title"/>
          </p:nvPr>
        </p:nvSpPr>
        <p:spPr/>
        <p:txBody>
          <a:bodyPr/>
          <a:lstStyle/>
          <a:p>
            <a:r>
              <a:rPr lang="es-ES" dirty="0"/>
              <a:t>Comparativas Internas (Intel)</a:t>
            </a:r>
          </a:p>
        </p:txBody>
      </p:sp>
      <p:sp>
        <p:nvSpPr>
          <p:cNvPr id="3" name="Marcador de contenido 2">
            <a:extLst>
              <a:ext uri="{FF2B5EF4-FFF2-40B4-BE49-F238E27FC236}">
                <a16:creationId xmlns:a16="http://schemas.microsoft.com/office/drawing/2014/main" id="{9E6DA534-753D-1666-B3EB-D546A5018C01}"/>
              </a:ext>
            </a:extLst>
          </p:cNvPr>
          <p:cNvSpPr>
            <a:spLocks noGrp="1"/>
          </p:cNvSpPr>
          <p:nvPr>
            <p:ph idx="1"/>
          </p:nvPr>
        </p:nvSpPr>
        <p:spPr>
          <a:xfrm>
            <a:off x="677334" y="1686136"/>
            <a:ext cx="8596668" cy="3880773"/>
          </a:xfrm>
        </p:spPr>
        <p:txBody>
          <a:bodyPr/>
          <a:lstStyle/>
          <a:p>
            <a:r>
              <a:rPr lang="es-ES" dirty="0"/>
              <a:t>Gama Baja/Media (Arc B570 vs B580): Ofrecen 12GB de memoria por menos de 300€, coronándose como las reinas absolutas de la gama económica.</a:t>
            </a:r>
          </a:p>
          <a:p>
            <a:r>
              <a:rPr lang="it-IT" dirty="0"/>
              <a:t>Gama Alta (Arc Pro B70): </a:t>
            </a:r>
            <a:r>
              <a:rPr lang="es-ES" dirty="0"/>
              <a:t>Intel carece de tarjetas de consumo en la gama entusiasta; sus chips más potentes se destinan a estaciones de trabajo.</a:t>
            </a:r>
          </a:p>
          <a:p>
            <a:r>
              <a:rPr lang="es-ES" dirty="0"/>
              <a:t>Conclusión: Intel ha renunciado a pelear por la gama alta y concentra todos sus esfuerzos en dominar el bolsillo del usuario promedio.</a:t>
            </a:r>
          </a:p>
        </p:txBody>
      </p:sp>
    </p:spTree>
    <p:extLst>
      <p:ext uri="{BB962C8B-B14F-4D97-AF65-F5344CB8AC3E}">
        <p14:creationId xmlns:p14="http://schemas.microsoft.com/office/powerpoint/2010/main" val="304492795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E44B658-B70D-6480-ACB3-05DAA8A226A4}"/>
              </a:ext>
            </a:extLst>
          </p:cNvPr>
          <p:cNvPicPr>
            <a:picLocks noChangeAspect="1"/>
          </p:cNvPicPr>
          <p:nvPr/>
        </p:nvPicPr>
        <p:blipFill>
          <a:blip r:embed="rId2"/>
          <a:stretch>
            <a:fillRect/>
          </a:stretch>
        </p:blipFill>
        <p:spPr>
          <a:xfrm>
            <a:off x="5700689" y="3761651"/>
            <a:ext cx="3274803" cy="2486749"/>
          </a:xfrm>
          <a:prstGeom prst="rect">
            <a:avLst/>
          </a:prstGeom>
        </p:spPr>
      </p:pic>
      <p:pic>
        <p:nvPicPr>
          <p:cNvPr id="6146" name="Picture 2" descr="Guía: tarjetas gráficas de bajo consumo para fuentes de poca potencia">
            <a:extLst>
              <a:ext uri="{FF2B5EF4-FFF2-40B4-BE49-F238E27FC236}">
                <a16:creationId xmlns:a16="http://schemas.microsoft.com/office/drawing/2014/main" id="{CBE28DE9-0BC0-47DF-EFE9-37967C5E4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355" y="3597460"/>
            <a:ext cx="3573313" cy="319269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3121933-A0CE-B4C1-7A80-BE77E9E0535C}"/>
              </a:ext>
            </a:extLst>
          </p:cNvPr>
          <p:cNvSpPr>
            <a:spLocks noGrp="1"/>
          </p:cNvSpPr>
          <p:nvPr>
            <p:ph type="title"/>
          </p:nvPr>
        </p:nvSpPr>
        <p:spPr/>
        <p:txBody>
          <a:bodyPr/>
          <a:lstStyle/>
          <a:p>
            <a:r>
              <a:rPr lang="es-ES" dirty="0"/>
              <a:t>Comparativas por Gama (Gama Baja)</a:t>
            </a:r>
          </a:p>
        </p:txBody>
      </p:sp>
      <p:sp>
        <p:nvSpPr>
          <p:cNvPr id="3" name="Marcador de contenido 2">
            <a:extLst>
              <a:ext uri="{FF2B5EF4-FFF2-40B4-BE49-F238E27FC236}">
                <a16:creationId xmlns:a16="http://schemas.microsoft.com/office/drawing/2014/main" id="{49D0EDB7-FD42-B965-CBF4-D43C489D350B}"/>
              </a:ext>
            </a:extLst>
          </p:cNvPr>
          <p:cNvSpPr>
            <a:spLocks noGrp="1"/>
          </p:cNvSpPr>
          <p:nvPr>
            <p:ph idx="1"/>
          </p:nvPr>
        </p:nvSpPr>
        <p:spPr>
          <a:xfrm>
            <a:off x="677334" y="1806906"/>
            <a:ext cx="8596668" cy="3880773"/>
          </a:xfrm>
        </p:spPr>
        <p:txBody>
          <a:bodyPr/>
          <a:lstStyle/>
          <a:p>
            <a:r>
              <a:rPr lang="es-ES" dirty="0"/>
              <a:t>NVIDIA RTX 5050 vs AMD RX 9060 XT vs Intel Arc B580.</a:t>
            </a:r>
          </a:p>
          <a:p>
            <a:r>
              <a:rPr lang="es-ES" dirty="0"/>
              <a:t>Rendimiento: AMD y NVIDIA ofrecen arquitecturas sólidas, pero sufren de poca memoria en esta gama de precios.</a:t>
            </a:r>
          </a:p>
          <a:p>
            <a:r>
              <a:rPr lang="es-ES" dirty="0"/>
              <a:t>Conclusión: En 2026, la Intel Arc B580 es la ganadora absoluta de la gama de entrada gracias a sus generosos 12GB de VRAM y extrema estabilidad.</a:t>
            </a:r>
          </a:p>
        </p:txBody>
      </p:sp>
    </p:spTree>
    <p:extLst>
      <p:ext uri="{BB962C8B-B14F-4D97-AF65-F5344CB8AC3E}">
        <p14:creationId xmlns:p14="http://schemas.microsoft.com/office/powerpoint/2010/main" val="976562334"/>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Gigabyte GV-N3070VISION OC-8GD RTX 3070: видеокарта – купить со скидкой">
            <a:extLst>
              <a:ext uri="{FF2B5EF4-FFF2-40B4-BE49-F238E27FC236}">
                <a16:creationId xmlns:a16="http://schemas.microsoft.com/office/drawing/2014/main" id="{CBE23EA1-D202-174D-7ADB-99BFD9C17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5663" y="3549770"/>
            <a:ext cx="3201299" cy="3201299"/>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arjeta Gráfica Gigabyte GeForce RTX 3070 GAMING OC LHR V2 8GB GDDR6 |  PcComponentes.com">
            <a:extLst>
              <a:ext uri="{FF2B5EF4-FFF2-40B4-BE49-F238E27FC236}">
                <a16:creationId xmlns:a16="http://schemas.microsoft.com/office/drawing/2014/main" id="{090EFCD7-7624-223A-26EF-2A02648FA8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324" y="3549770"/>
            <a:ext cx="3201299" cy="3201299"/>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6DEA7E25-CD4E-BD6A-9857-F76B91DB6E21}"/>
              </a:ext>
            </a:extLst>
          </p:cNvPr>
          <p:cNvSpPr>
            <a:spLocks noGrp="1"/>
          </p:cNvSpPr>
          <p:nvPr>
            <p:ph type="title"/>
          </p:nvPr>
        </p:nvSpPr>
        <p:spPr/>
        <p:txBody>
          <a:bodyPr/>
          <a:lstStyle/>
          <a:p>
            <a:r>
              <a:rPr lang="es-ES" dirty="0"/>
              <a:t>Comparativas por Gama (Gama Media)</a:t>
            </a:r>
          </a:p>
        </p:txBody>
      </p:sp>
      <p:sp>
        <p:nvSpPr>
          <p:cNvPr id="3" name="Marcador de contenido 2">
            <a:extLst>
              <a:ext uri="{FF2B5EF4-FFF2-40B4-BE49-F238E27FC236}">
                <a16:creationId xmlns:a16="http://schemas.microsoft.com/office/drawing/2014/main" id="{518AB4E5-F2C8-56A1-3896-9E3AE8D48B0C}"/>
              </a:ext>
            </a:extLst>
          </p:cNvPr>
          <p:cNvSpPr>
            <a:spLocks noGrp="1"/>
          </p:cNvSpPr>
          <p:nvPr>
            <p:ph idx="1"/>
          </p:nvPr>
        </p:nvSpPr>
        <p:spPr>
          <a:xfrm>
            <a:off x="677334" y="1824158"/>
            <a:ext cx="8596668" cy="3880773"/>
          </a:xfrm>
        </p:spPr>
        <p:txBody>
          <a:bodyPr/>
          <a:lstStyle/>
          <a:p>
            <a:r>
              <a:rPr lang="es-ES" dirty="0"/>
              <a:t>NVIDIA RTX 5070 vs AMD RX 9070. (Intel aún no tiene un rival fuerte aquí)</a:t>
            </a:r>
            <a:r>
              <a:rPr lang="es-ES" i="1" dirty="0"/>
              <a:t>.</a:t>
            </a:r>
          </a:p>
          <a:p>
            <a:r>
              <a:rPr lang="es-ES" dirty="0"/>
              <a:t>Tecnología vs Memoria:</a:t>
            </a:r>
            <a:r>
              <a:rPr lang="es-ES" i="1" dirty="0"/>
              <a:t> </a:t>
            </a:r>
            <a:r>
              <a:rPr lang="es-ES" dirty="0"/>
              <a:t>NVIDIA domina en software de escalado (DLSS 4.5), mientras que AMD ofrece más longevidad al incluir 16GB de memoria.</a:t>
            </a:r>
            <a:endParaRPr lang="es-ES" i="1" dirty="0"/>
          </a:p>
          <a:p>
            <a:r>
              <a:rPr lang="es-ES" dirty="0"/>
              <a:t>Conclusión:</a:t>
            </a:r>
            <a:r>
              <a:rPr lang="es-ES" i="1" dirty="0"/>
              <a:t> </a:t>
            </a:r>
            <a:r>
              <a:rPr lang="es-ES" dirty="0"/>
              <a:t>La elección depende del usuario: AMD gana en durabilidad a futuro, pero NVIDIA ofrece mejores tasas de fotogramas mediante IA.</a:t>
            </a:r>
          </a:p>
        </p:txBody>
      </p:sp>
    </p:spTree>
    <p:extLst>
      <p:ext uri="{BB962C8B-B14F-4D97-AF65-F5344CB8AC3E}">
        <p14:creationId xmlns:p14="http://schemas.microsoft.com/office/powerpoint/2010/main" val="3510572612"/>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Tarjetas gráficas para PC baratas y potentes - Neobyte">
            <a:extLst>
              <a:ext uri="{FF2B5EF4-FFF2-40B4-BE49-F238E27FC236}">
                <a16:creationId xmlns:a16="http://schemas.microsoft.com/office/drawing/2014/main" id="{D06F736A-700A-3263-677B-365712200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7426" y="2924355"/>
            <a:ext cx="3418251" cy="3650142"/>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Mejores tarjetas gráficas 2023: impulsa tu experiencia visual &lt; HP TECH  TAKES /... - HP.com Perú">
            <a:extLst>
              <a:ext uri="{FF2B5EF4-FFF2-40B4-BE49-F238E27FC236}">
                <a16:creationId xmlns:a16="http://schemas.microsoft.com/office/drawing/2014/main" id="{8DF0BAF1-0703-D893-F5EC-D1652FCF1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773" y="3789873"/>
            <a:ext cx="4195313" cy="209492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5F3E593B-B586-7381-5500-BC5361EC488C}"/>
              </a:ext>
            </a:extLst>
          </p:cNvPr>
          <p:cNvSpPr>
            <a:spLocks noGrp="1"/>
          </p:cNvSpPr>
          <p:nvPr>
            <p:ph type="title"/>
          </p:nvPr>
        </p:nvSpPr>
        <p:spPr/>
        <p:txBody>
          <a:bodyPr/>
          <a:lstStyle/>
          <a:p>
            <a:r>
              <a:rPr lang="es-ES" dirty="0"/>
              <a:t>Comparativas por Gama (Gama Alta)</a:t>
            </a:r>
          </a:p>
        </p:txBody>
      </p:sp>
      <p:sp>
        <p:nvSpPr>
          <p:cNvPr id="3" name="Marcador de contenido 2">
            <a:extLst>
              <a:ext uri="{FF2B5EF4-FFF2-40B4-BE49-F238E27FC236}">
                <a16:creationId xmlns:a16="http://schemas.microsoft.com/office/drawing/2014/main" id="{A3ECD50D-F8C4-2723-F889-79666E7501F1}"/>
              </a:ext>
            </a:extLst>
          </p:cNvPr>
          <p:cNvSpPr>
            <a:spLocks noGrp="1"/>
          </p:cNvSpPr>
          <p:nvPr>
            <p:ph idx="1"/>
          </p:nvPr>
        </p:nvSpPr>
        <p:spPr>
          <a:xfrm>
            <a:off x="677334" y="1488613"/>
            <a:ext cx="8596668" cy="3880773"/>
          </a:xfrm>
        </p:spPr>
        <p:txBody>
          <a:bodyPr/>
          <a:lstStyle/>
          <a:p>
            <a:r>
              <a:rPr lang="es-ES" dirty="0"/>
              <a:t>NVIDIA RTX 5090 vs AMD RX 9070 XT.</a:t>
            </a:r>
          </a:p>
          <a:p>
            <a:r>
              <a:rPr lang="es-ES" dirty="0"/>
              <a:t>El monopolio verde: En la gama de más de 1.000€, NVIDIA se ha quedado totalmente sola; ni AMD ni Intel tienen productos que le hagan sombra.</a:t>
            </a:r>
          </a:p>
          <a:p>
            <a:r>
              <a:rPr lang="es-ES" dirty="0"/>
              <a:t>Conclusión: Si el presupuesto es ilimitado y se busca lo máximo en 4K o diseño, NVIDIA es, literalmente, la única opción viable del mercado.</a:t>
            </a:r>
          </a:p>
          <a:p>
            <a:endParaRPr lang="es-ES" dirty="0"/>
          </a:p>
        </p:txBody>
      </p:sp>
    </p:spTree>
    <p:extLst>
      <p:ext uri="{BB962C8B-B14F-4D97-AF65-F5344CB8AC3E}">
        <p14:creationId xmlns:p14="http://schemas.microsoft.com/office/powerpoint/2010/main" val="1595514084"/>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4025CF-FD35-8E43-7730-300CDFD96797}"/>
              </a:ext>
            </a:extLst>
          </p:cNvPr>
          <p:cNvSpPr>
            <a:spLocks noGrp="1"/>
          </p:cNvSpPr>
          <p:nvPr>
            <p:ph type="title"/>
          </p:nvPr>
        </p:nvSpPr>
        <p:spPr/>
        <p:txBody>
          <a:bodyPr/>
          <a:lstStyle/>
          <a:p>
            <a:r>
              <a:rPr lang="es-ES" dirty="0"/>
              <a:t>Tendencias y Novedades (2026)</a:t>
            </a:r>
          </a:p>
        </p:txBody>
      </p:sp>
      <p:sp>
        <p:nvSpPr>
          <p:cNvPr id="3" name="Marcador de contenido 2">
            <a:extLst>
              <a:ext uri="{FF2B5EF4-FFF2-40B4-BE49-F238E27FC236}">
                <a16:creationId xmlns:a16="http://schemas.microsoft.com/office/drawing/2014/main" id="{4CBF8E91-4434-82DE-AC41-FB8652D00477}"/>
              </a:ext>
            </a:extLst>
          </p:cNvPr>
          <p:cNvSpPr>
            <a:spLocks noGrp="1"/>
          </p:cNvSpPr>
          <p:nvPr>
            <p:ph idx="1"/>
          </p:nvPr>
        </p:nvSpPr>
        <p:spPr>
          <a:xfrm>
            <a:off x="677334" y="1651630"/>
            <a:ext cx="8596668" cy="3880773"/>
          </a:xfrm>
        </p:spPr>
        <p:txBody>
          <a:bodyPr/>
          <a:lstStyle/>
          <a:p>
            <a:r>
              <a:rPr lang="es-ES" dirty="0"/>
              <a:t>La IA es obligatoria: Tecnologías de generación de fotogramas mediante IA (DLSS de NVIDIA, FSR de AMD, XeSS de Intel) son esenciales para jugar.</a:t>
            </a:r>
          </a:p>
          <a:p>
            <a:r>
              <a:rPr lang="es-ES" dirty="0"/>
              <a:t>La crisis de la Memoria (VRAM): Los programas y juegos de 2026 son muy exigentes; las tarjetas de 8GB están obsoletas, el nuevo estándar es 12GB o 16GB.</a:t>
            </a:r>
          </a:p>
          <a:p>
            <a:r>
              <a:rPr lang="es-ES" dirty="0"/>
              <a:t>El impacto de los servidores: NVIDIA prefiere fabricar chips hiper-caros para Inteligencia Artificial en vez de GPUs domésticas, encareciendo el mercado.</a:t>
            </a:r>
          </a:p>
        </p:txBody>
      </p:sp>
      <p:pic>
        <p:nvPicPr>
          <p:cNvPr id="9218" name="Picture 2" descr="Mejores tarjetas gráficas 2026 - Blog de Worten">
            <a:extLst>
              <a:ext uri="{FF2B5EF4-FFF2-40B4-BE49-F238E27FC236}">
                <a16:creationId xmlns:a16="http://schemas.microsoft.com/office/drawing/2014/main" id="{6AFCD2E0-272C-E838-7D65-67C0DC3A9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383" y="4210647"/>
            <a:ext cx="3426285" cy="256971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 Mejores tarjetas gráficas 2026 - Comparativas La Vanguardia">
            <a:extLst>
              <a:ext uri="{FF2B5EF4-FFF2-40B4-BE49-F238E27FC236}">
                <a16:creationId xmlns:a16="http://schemas.microsoft.com/office/drawing/2014/main" id="{4365B37F-C147-A0AA-7868-9FCE120B6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7717" y="4054409"/>
            <a:ext cx="2772169" cy="2582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348142"/>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2C7470-ED91-2D59-24C1-AB6C5B88497A}"/>
              </a:ext>
            </a:extLst>
          </p:cNvPr>
          <p:cNvSpPr>
            <a:spLocks noGrp="1"/>
          </p:cNvSpPr>
          <p:nvPr>
            <p:ph type="title"/>
          </p:nvPr>
        </p:nvSpPr>
        <p:spPr/>
        <p:txBody>
          <a:bodyPr/>
          <a:lstStyle/>
          <a:p>
            <a:r>
              <a:rPr lang="es-ES"/>
              <a:t>Bibliografía y Webgrafía.</a:t>
            </a:r>
            <a:br>
              <a:rPr lang="es-ES"/>
            </a:br>
            <a:endParaRPr lang="es-ES"/>
          </a:p>
        </p:txBody>
      </p:sp>
      <p:sp>
        <p:nvSpPr>
          <p:cNvPr id="3" name="Marcador de contenido 2">
            <a:extLst>
              <a:ext uri="{FF2B5EF4-FFF2-40B4-BE49-F238E27FC236}">
                <a16:creationId xmlns:a16="http://schemas.microsoft.com/office/drawing/2014/main" id="{7205278F-31D6-7CC7-DDCA-0AC425B12284}"/>
              </a:ext>
            </a:extLst>
          </p:cNvPr>
          <p:cNvSpPr>
            <a:spLocks noGrp="1"/>
          </p:cNvSpPr>
          <p:nvPr>
            <p:ph idx="1"/>
          </p:nvPr>
        </p:nvSpPr>
        <p:spPr>
          <a:xfrm>
            <a:off x="677334" y="1686136"/>
            <a:ext cx="8596668" cy="3880773"/>
          </a:xfrm>
        </p:spPr>
        <p:txBody>
          <a:bodyPr>
            <a:normAutofit fontScale="85000" lnSpcReduction="10000"/>
          </a:bodyPr>
          <a:lstStyle/>
          <a:p>
            <a:r>
              <a:rPr lang="es-ES" dirty="0">
                <a:hlinkClick r:id="rId2"/>
              </a:rPr>
              <a:t>https://blog.jetcomputer.net/tarjeta-grafica-que-es-cual-es-su-funcion-y-cuantos-tipos-hay/?srsltid=AfmBOormospww-haYQcDJkW1qMMxHYlK8b6FNNlAjzKcTXOOh0i58-Ec</a:t>
            </a:r>
            <a:endParaRPr lang="es-ES" dirty="0"/>
          </a:p>
          <a:p>
            <a:r>
              <a:rPr lang="es-ES" dirty="0">
                <a:hlinkClick r:id="rId3"/>
              </a:rPr>
              <a:t>https://www.pccomponentes.com/?_</a:t>
            </a:r>
            <a:r>
              <a:rPr lang="es-ES" dirty="0" err="1">
                <a:hlinkClick r:id="rId3"/>
              </a:rPr>
              <a:t>gl</a:t>
            </a:r>
            <a:r>
              <a:rPr lang="es-ES" dirty="0">
                <a:hlinkClick r:id="rId3"/>
              </a:rPr>
              <a:t>=1*1nwar2l*_up*MQ..&amp;</a:t>
            </a:r>
            <a:r>
              <a:rPr lang="es-ES" dirty="0" err="1">
                <a:hlinkClick r:id="rId3"/>
              </a:rPr>
              <a:t>gclid</a:t>
            </a:r>
            <a:r>
              <a:rPr lang="es-ES" dirty="0">
                <a:hlinkClick r:id="rId3"/>
              </a:rPr>
              <a:t>=EAIaIQobChMIiOTwrqCGkwMVQU1BAh19uTUOEAAYASAAEgKkufD_BwE</a:t>
            </a:r>
            <a:endParaRPr lang="es-ES" dirty="0"/>
          </a:p>
          <a:p>
            <a:r>
              <a:rPr lang="es-ES" dirty="0">
                <a:hlinkClick r:id="rId4"/>
              </a:rPr>
              <a:t>https://hardzone.es/noticias/tarjetas-graficas/32/</a:t>
            </a:r>
            <a:endParaRPr lang="es-ES" dirty="0"/>
          </a:p>
          <a:p>
            <a:r>
              <a:rPr lang="es-ES" dirty="0">
                <a:hlinkClick r:id="rId5"/>
              </a:rPr>
              <a:t>https://www.pccomponentes.com/tarjetas-graficas?srsltid=AfmBOoq2odQUftRhx965LrDfU1uch7HiY6d7yrEnAB5TLsBi9ULzayhj</a:t>
            </a:r>
            <a:endParaRPr lang="es-ES" dirty="0"/>
          </a:p>
          <a:p>
            <a:r>
              <a:rPr lang="es-ES" dirty="0">
                <a:hlinkClick r:id="rId6"/>
              </a:rPr>
              <a:t>https://www.q2bstudio.com/nuestro-blog/924301/nvidia-lidera-mercado-tarjetas-graficas-pc-mejor-tecnologia-rendimiento-usuarios-exigentes</a:t>
            </a:r>
            <a:endParaRPr lang="es-ES" dirty="0"/>
          </a:p>
          <a:p>
            <a:r>
              <a:rPr lang="es-ES" dirty="0">
                <a:hlinkClick r:id="rId7"/>
              </a:rPr>
              <a:t>https://www.coolmod.com/blog/categorias/componentes/tipos-de-tarjetas-graficas-guia-facil-para-elegir-la-adecuada/?srsltid=AfmBOorEPhZ5l-SOV7gtcclZ12W1-6vtNk5wL7Ewdalrx7BIrggdVENm</a:t>
            </a:r>
            <a:endParaRPr lang="es-ES" dirty="0"/>
          </a:p>
          <a:p>
            <a:r>
              <a:rPr lang="es-ES"/>
              <a:t>Información sacada </a:t>
            </a:r>
            <a:r>
              <a:rPr lang="es-ES" dirty="0"/>
              <a:t>del pdf proporcionada por el profesor.</a:t>
            </a:r>
          </a:p>
          <a:p>
            <a:r>
              <a:rPr lang="es-ES" dirty="0"/>
              <a:t>Apoyo con IA Gemini.</a:t>
            </a:r>
          </a:p>
        </p:txBody>
      </p:sp>
    </p:spTree>
    <p:extLst>
      <p:ext uri="{BB962C8B-B14F-4D97-AF65-F5344CB8AC3E}">
        <p14:creationId xmlns:p14="http://schemas.microsoft.com/office/powerpoint/2010/main" val="3047218053"/>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174</TotalTime>
  <Words>1234</Words>
  <Application>Microsoft Office PowerPoint</Application>
  <PresentationFormat>Panorámica</PresentationFormat>
  <Paragraphs>72</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Trebuchet MS</vt:lpstr>
      <vt:lpstr>Wingdings 3</vt:lpstr>
      <vt:lpstr>Faceta</vt:lpstr>
      <vt:lpstr>Tarjetas Gráficas</vt:lpstr>
      <vt:lpstr>Índice</vt:lpstr>
      <vt:lpstr>Introducción a la tarjeta gráfica. </vt:lpstr>
      <vt:lpstr>Funcionamiento y Componentes Principales. </vt:lpstr>
      <vt:lpstr>Interfaz y Memoria Gráfica. </vt:lpstr>
      <vt:lpstr>Estudio de Mercado 2026: El Escenario Actual</vt:lpstr>
      <vt:lpstr>Comparativas Internas (NVIDIA)</vt:lpstr>
      <vt:lpstr>Comparativas Internas (AMD)</vt:lpstr>
      <vt:lpstr>Comparativas Internas (Intel)</vt:lpstr>
      <vt:lpstr>Comparativas por Gama (Gama Baja)</vt:lpstr>
      <vt:lpstr>Comparativas por Gama (Gama Media)</vt:lpstr>
      <vt:lpstr>Comparativas por Gama (Gama Alta)</vt:lpstr>
      <vt:lpstr>Tendencias y Novedades (2026)</vt:lpstr>
      <vt:lpstr>Bibliografía y Webgrafía.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ASIR1-12</dc:creator>
  <cp:lastModifiedBy>ASIR1-12</cp:lastModifiedBy>
  <cp:revision>9</cp:revision>
  <dcterms:created xsi:type="dcterms:W3CDTF">2026-03-09T12:00:57Z</dcterms:created>
  <dcterms:modified xsi:type="dcterms:W3CDTF">2026-03-16T09:19:44Z</dcterms:modified>
</cp:coreProperties>
</file>